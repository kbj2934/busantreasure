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Pretendard"/>
              </a:rPr>
              <a:t>초등 4학년 사회과 | 1차시 (40분)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retendard"/>
              </a:rPr>
              <a:t>부산 보물 탐험대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6EBF0"/>
                </a:solidFill>
                <a:latin typeface="Pretendard"/>
              </a:rPr>
              <a:t>카드 보드게임으로 만나는 우리 고장의 문화유산</a:t>
            </a:r>
          </a:p>
          <a:p>
            <a:r>
              <a:t>버전 v6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10515600" cy="15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단원  우리 고장의 문화유산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대상  초등학교 4학년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212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차시  1 / 3차시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수업 형태  모둠 협동학습 + 카드 게임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오늘 우리가 배울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지식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부산의 대표 문화유산 22가지를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시대별로 분류하여 설명할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657600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80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과정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65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카드 짝 맞추기 게임을 통해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친구들과 협력하며 학습할 수 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65760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태도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우리 고장의 문화유산을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아끼고 자랑스럽게 여길 수 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3F6F"/>
                </a:solidFill>
                <a:latin typeface="Pretendard"/>
              </a:rPr>
              <a:t>2022 개정 교육과정 성취기준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[4사04-03]  옛 사람들의 생활 모습을 알 수 있는 문화유산을 알아본다.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[4사04-04]  우리 지역의 문화유산을 답사하고 자랑할 점을 정리한다.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[4국01-04]  적절한 표정과 몸짓, 말투로 자신의 의견을 효과적으로 표현한다.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수업 흐름 (40분)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도입 → 전개 →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83030" cy="640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3830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1670" y="1463040"/>
            <a:ext cx="1383030" cy="6400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1670" y="1600200"/>
            <a:ext cx="13830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4700" y="1463040"/>
            <a:ext cx="2212848" cy="6400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160020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8분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7548" y="1463040"/>
            <a:ext cx="3319272" cy="6400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7548" y="160020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12분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20" y="1463040"/>
            <a:ext cx="829818" cy="6400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6820" y="1600200"/>
            <a:ext cx="8298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6638" y="1463040"/>
            <a:ext cx="1936241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6638" y="1600200"/>
            <a:ext cx="19362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7분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1106424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606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도입 (5분)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0175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동기 유발 — 부산 사진 보고 어디인지 맞히기 (1분)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918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전시 학습 — 우리 고장의 문화유산이란? (1분)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661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학습 문제 제시 — '부산 보물 탐험대'가 되어보자 (1분)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404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학습 활동 안내 — 오늘의 4가지 활동 (2분)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1106424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전개 (28분)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634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① 부산의 22가지 문화유산을 5색 시대로 나누어 살펴보기 (5분)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37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② 보드게임 카드 구성과 규칙 익히기 (8분)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120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③ 4인 1조 모둠 게임 진행 — 시대 정복 보너스 노리기 (12분)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4864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④ 모둠별 1등이 가장 인상 깊었던 유산 발표하기 (3분)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정리 (7분)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3093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학습 정리 — 5색 시대별로 유산 분류해 보기 (3분)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583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형성 평가 — 학습지 4문항 풀기 (3분)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8580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• 차시 예고 — 2차시: 우리 마을 답사 계획 세우기 (1분)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도입 · 동기 유발 (1분)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이 사진은 우리 고장 어디일까요?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Pretendard"/>
              </a:rPr>
              <a:t>선생님이 4장의 사진을 보여줄게요. 어디인지 손들고 말해 봅시다!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Picture 8" descr="card_06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4688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D3F6F"/>
                </a:solidFill>
                <a:latin typeface="Pretendard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9202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card_07_ill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011680"/>
            <a:ext cx="2468880" cy="2377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56432" y="201168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057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4480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D3F6F"/>
                </a:solidFill>
                <a:latin typeface="Pretendard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9202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9" name="Picture 18" descr="card_08_illu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011680"/>
            <a:ext cx="2468880" cy="23774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72784" y="201168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2057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4480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D3F6F"/>
                </a:solidFill>
                <a:latin typeface="Pretendard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9202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4" name="Picture 23" descr="card_04_illu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2011680"/>
            <a:ext cx="2468880" cy="23774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089136" y="201168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057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480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D3F6F"/>
                </a:solidFill>
                <a:latin typeface="Pretendard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Pretendard"/>
              </a:rPr>
              <a:t>교사 발문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"여러분, 이 사진들이 어디인지 알겠어요? 모두 우리가 사는 부산이에요!"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도입 · 학습 문제 제시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오늘의 학습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1832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76F51"/>
                </a:solidFill>
                <a:latin typeface="Pretendard"/>
              </a:rPr>
              <a:t>학습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D3F6F"/>
                </a:solidFill>
                <a:latin typeface="Pretendard"/>
              </a:rPr>
              <a:t>보드게임으로</a:t>
            </a:r>
          </a:p>
          <a:p>
            <a:pPr algn="ctr"/>
            <a:r>
              <a:rPr sz="3400" b="1">
                <a:solidFill>
                  <a:srgbClr val="1D3F6F"/>
                </a:solidFill>
                <a:latin typeface="Pretendard"/>
              </a:rPr>
              <a:t>부산의 문화유산을 알아봅시다.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Pretendard"/>
              </a:rPr>
              <a:t>오늘 우리가 할 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548640" cy="1554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54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F6F"/>
                </a:solidFill>
                <a:latin typeface="Pretendard"/>
              </a:rPr>
              <a:t>알아보기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6636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부산의 22가지 문화유산을 시대별로 살펴봐요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45720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4572000"/>
            <a:ext cx="548640" cy="1554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4937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4754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F6F"/>
                </a:solidFill>
                <a:latin typeface="Pretendard"/>
              </a:rPr>
              <a:t>익히기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516636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보드게임 규칙을 배우고 카드를 살펴봐요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1616" y="45720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1616" y="4572000"/>
            <a:ext cx="548640" cy="1554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4937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4754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F6F"/>
                </a:solidFill>
                <a:latin typeface="Pretendard"/>
              </a:rPr>
              <a:t>겨루기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516636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모둠 친구들과 게임으로 즐겁게 외워봐요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3104" y="45720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33104" y="4572000"/>
            <a:ext cx="548640" cy="1554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4937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4754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F6F"/>
                </a:solidFill>
                <a:latin typeface="Pretendard"/>
              </a:rPr>
              <a:t>나누기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516636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가장 인상 깊은 유산을 친구들에게 소개해요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① · 부산의 문화유산이란? (1분)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옛 사람들이 남긴 소중한 보물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3F6F"/>
                </a:solidFill>
                <a:latin typeface="Pretendard"/>
              </a:rPr>
              <a:t>문화유산이란?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Pretendard"/>
              </a:rPr>
              <a:t>옛 사람들이 살았던 모습과 생각을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Pretendard"/>
              </a:rPr>
              <a:t>오늘날까지 전해주는 소중한 보물이에요.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Pretendard"/>
              </a:rPr>
              <a:t/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Pretendard"/>
              </a:rPr>
              <a:t>부산에는 신석기 시대부터 오늘날까지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Pretendard"/>
              </a:rPr>
              <a:t>수천 년 동안 쌓인 문화유산이 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Pretendard"/>
              </a:rPr>
              <a:t>문화유산의 종류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63440"/>
            <a:ext cx="91440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유적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709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옛 사람들이 살았던 자리 · 무덤 · 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20640"/>
            <a:ext cx="91440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유물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166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옛 사람들이 만들고 쓰던 물건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577840"/>
            <a:ext cx="91440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기념물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23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역사적인 사건을 기억하는 장소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188720"/>
            <a:ext cx="3931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371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예시: 동삼동 패총</a:t>
            </a:r>
          </a:p>
        </p:txBody>
      </p:sp>
      <p:pic>
        <p:nvPicPr>
          <p:cNvPr id="22" name="Picture 21" descr="card_01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828800"/>
            <a:ext cx="3383280" cy="3200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52120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신석기 사람들이 조개를 먹고 버린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껍데기가 쌓여 만들어진 유적이에요.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① · 5색으로 나누는 시대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카드 색깔만 봐도 시대를 알 수 있어요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Pretendard"/>
              </a:rPr>
              <a:t>부산의 22가지 문화유산을 시대에 따라 5가지 색으로 나누었어요.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5760" cy="74980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698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3946"/>
                </a:solidFill>
                <a:latin typeface="Pretendard"/>
              </a:rPr>
              <a:t>선사·가야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오래된 옛날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11680"/>
            <a:ext cx="822960" cy="38404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동삼동패총 · 복천동고분군 · 연산동고분군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70048"/>
            <a:ext cx="365760" cy="74980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670048"/>
            <a:ext cx="10698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61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Pretendard"/>
              </a:rPr>
              <a:t>통일신라·고려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81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삼국 통일 이후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852928"/>
            <a:ext cx="822960" cy="38404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8986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9864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범어사 · 만덕사지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365760" cy="749808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11296"/>
            <a:ext cx="10698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6027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C46A"/>
                </a:solidFill>
                <a:latin typeface="Pretendard"/>
              </a:rPr>
              <a:t>조선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227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임진왜란 시대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694176"/>
            <a:ext cx="822960" cy="384048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73989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39896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동래읍성 · 금정산성 · 충렬사 · 부산진성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52544"/>
            <a:ext cx="365760" cy="7498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352544"/>
            <a:ext cx="10698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44398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Pretendard"/>
              </a:rPr>
              <a:t>근대·전쟁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640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6·25 전쟁 시대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35424"/>
            <a:ext cx="822960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8개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58114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임시수도기념관 · 정부청사 · 동아대박물관 · UN공원 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93792"/>
            <a:ext cx="365760" cy="749808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5193792"/>
            <a:ext cx="106984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285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64653"/>
                </a:solidFill>
                <a:latin typeface="Pretendard"/>
              </a:rPr>
              <a:t>생활·시장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052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오늘날 부산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5376672"/>
            <a:ext cx="822960" cy="384048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42239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42239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태종대 · 영도대교 · 국제시장 · 구포시장 · 해양박물관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① · 부산의 22가지 문화유산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오늘 만날 모든 보물들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card_01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0" y="1483040"/>
            <a:ext cx="935332" cy="1508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3611880"/>
            <a:ext cx="975332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760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동삼동 패총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4244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" name="Picture 11" descr="card_02_ill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44" y="1483040"/>
            <a:ext cx="935332" cy="1508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14244" y="3611880"/>
            <a:ext cx="975332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4244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복천동 고분군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2728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Picture 15" descr="card_03_illu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728" y="1483040"/>
            <a:ext cx="93533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462728" y="3611880"/>
            <a:ext cx="975332" cy="1371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2728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연산동 고분군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11212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0" name="Picture 19" descr="card_04_illu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212" y="1483040"/>
            <a:ext cx="935332" cy="15087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511212" y="3611880"/>
            <a:ext cx="975332" cy="1371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1212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범어사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9697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4" name="Picture 23" descr="card_05_illu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697" y="1483040"/>
            <a:ext cx="935332" cy="1508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59697" y="3611880"/>
            <a:ext cx="975332" cy="1371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9697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만덕사지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08181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Picture 27" descr="card_06_ill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8181" y="1483040"/>
            <a:ext cx="935332" cy="15087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608181" y="3611880"/>
            <a:ext cx="975332" cy="1371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8181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동래읍성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665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2" name="Picture 31" descr="card_07_illu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665" y="1483040"/>
            <a:ext cx="935332" cy="15087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656665" y="3611880"/>
            <a:ext cx="975332" cy="1371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6665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금정산성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05149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6" name="Picture 35" descr="card_08_illu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5149" y="1483040"/>
            <a:ext cx="935332" cy="150876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705149" y="3611880"/>
            <a:ext cx="975332" cy="1371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5149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충렬사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3634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0" name="Picture 39" descr="card_09_illu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3634" y="1483040"/>
            <a:ext cx="935332" cy="150876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8753634" y="3611880"/>
            <a:ext cx="975332" cy="1371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3634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부산진성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118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4" name="Picture 43" descr="card_10_illu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2118" y="1483040"/>
            <a:ext cx="935332" cy="15087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9802118" y="361188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2118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40계단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50602" y="146304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8" name="Picture 47" descr="card_11_illu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0602" y="1483040"/>
            <a:ext cx="935332" cy="150876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10850602" y="361188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70602" y="309067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임시수도 기념관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2" name="Picture 51" descr="card_12_illus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760" y="3906200"/>
            <a:ext cx="935332" cy="150876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365760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5760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부산임시수도 정부청사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14244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6" name="Picture 55" descr="card_13_illu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34244" y="3906200"/>
            <a:ext cx="935332" cy="150876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414244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244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UN기념공원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2728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0" name="Picture 59" descr="card_14_illu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2728" y="3906200"/>
            <a:ext cx="935332" cy="150876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2462728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82728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동아대 석당박물관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11212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4" name="Picture 63" descr="card_15_illus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1212" y="3906200"/>
            <a:ext cx="935332" cy="150876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3511212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31212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아미동 비석문화마을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59697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8" name="Picture 67" descr="card_16_illus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9697" y="3906200"/>
            <a:ext cx="935332" cy="15087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4559697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9697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초량 이바구길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08181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2" name="Picture 71" descr="card_17_illus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28181" y="3906200"/>
            <a:ext cx="935332" cy="150876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5608181" y="6035040"/>
            <a:ext cx="975332" cy="137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28181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깡깡이마을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56665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6" name="Picture 75" descr="card_18_illus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76665" y="3906200"/>
            <a:ext cx="935332" cy="150876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6656665" y="6035040"/>
            <a:ext cx="975332" cy="1371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6665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국제시장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05149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0" name="Picture 79" descr="card_19_illus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5149" y="3906200"/>
            <a:ext cx="935332" cy="1508760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7705149" y="6035040"/>
            <a:ext cx="975332" cy="1371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25149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구포시장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753634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4" name="Picture 83" descr="card_20_illus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73634" y="3906200"/>
            <a:ext cx="935332" cy="150876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8753634" y="6035040"/>
            <a:ext cx="975332" cy="1371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73634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영도대교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02118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8" name="Picture 87" descr="card_21_illus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2118" y="3906200"/>
            <a:ext cx="935332" cy="1508760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9802118" y="6035040"/>
            <a:ext cx="975332" cy="1371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22118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태종대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50602" y="3886200"/>
            <a:ext cx="975332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2" name="Picture 91" descr="card_22_illus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70602" y="3906200"/>
            <a:ext cx="935332" cy="1508760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10850602" y="6035040"/>
            <a:ext cx="975332" cy="1371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870602" y="5513832"/>
            <a:ext cx="9353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F2A37"/>
                </a:solidFill>
                <a:latin typeface="Pretendard"/>
              </a:rPr>
              <a:t>국립해양박물관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76F51"/>
                </a:solidFill>
                <a:latin typeface="Pretendard"/>
              </a:rPr>
              <a:t>지금부터 이 22가지 보물을 카드로 만나봐요!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부산 보물 탐험대 보드게임 (1분)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어떤 게임일까요?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0116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게임 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부산 보물 탐험대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BF0"/>
                </a:solidFill>
                <a:latin typeface="Pretendard"/>
              </a:rPr>
              <a:t>신경쇠약(짝맞추기) + 할리갈리(외치기) + 부루마블(세트 모으기)을 합친 게임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2697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인원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D3F6F"/>
                </a:solidFill>
                <a:latin typeface="Pretendard"/>
              </a:rPr>
              <a:t>4명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1모둠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474720"/>
            <a:ext cx="2697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3657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931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D3F6F"/>
                </a:solidFill>
                <a:latin typeface="Pretendard"/>
              </a:rPr>
              <a:t>12분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44805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한 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3474720"/>
            <a:ext cx="2697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657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931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D3F6F"/>
                </a:solidFill>
                <a:latin typeface="Pretendard"/>
              </a:rPr>
              <a:t>48장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44805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유산 44 + 특수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3474720"/>
            <a:ext cx="2697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3104" y="36576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승리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3931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D3F6F"/>
                </a:solidFill>
                <a:latin typeface="Pretendard"/>
              </a:rPr>
              <a:t>점수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44805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0"/>
                </a:solidFill>
                <a:latin typeface="Pretendard"/>
              </a:rPr>
              <a:t>가장 많이 모은 사람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DE7DE"/>
                </a:solidFill>
                <a:latin typeface="Pretendard"/>
              </a:rPr>
              <a:t>이 게임의 특별한 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"짝을 맞추면 그 유산에 대해 한 가지 설명을 말해야 점수를 얻어요!"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카드를 살펴봐요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앞면과 뒷면이 어떻게 생겼을까?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F6F"/>
                </a:solidFill>
                <a:latin typeface="Pretendard"/>
              </a:rPr>
              <a:t>카드 앞면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36576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시대 색 번호 배지</a:t>
            </a:r>
          </a:p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(왼쪽 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377440"/>
            <a:ext cx="36576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유산 그림</a:t>
            </a:r>
          </a:p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(가운데)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474720"/>
            <a:ext cx="36576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474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유산 이름 + 시대</a:t>
            </a:r>
          </a:p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(중앙)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206240"/>
            <a:ext cx="36576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062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시대 색 물결</a:t>
            </a:r>
          </a:p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(맨 아래)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188720"/>
            <a:ext cx="5669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188720"/>
            <a:ext cx="5669280" cy="5486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retendard"/>
              </a:rPr>
              <a:t>범어사</a:t>
            </a:r>
          </a:p>
        </p:txBody>
      </p:sp>
      <p:pic>
        <p:nvPicPr>
          <p:cNvPr id="23" name="Picture 22" descr="card_04_ill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920240"/>
            <a:ext cx="1005840" cy="1005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Pretendard"/>
              </a:rPr>
              <a:t>통일신라·고려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0"/>
                </a:solidFill>
                <a:latin typeface="Pretendard"/>
              </a:rPr>
              <a:t>한 줄 설명 (아래)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5120640" cy="18288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신라 때 지어진 부산에서</a:t>
            </a:r>
          </a:p>
          <a:p>
            <a:pPr algn="l"/>
            <a:r>
              <a:rPr sz="1700" b="1">
                <a:solidFill>
                  <a:srgbClr val="1F2A37"/>
                </a:solidFill>
                <a:latin typeface="Pretendard"/>
              </a:rPr>
              <a:t>가장 크고 오래된 절이에요.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760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04 / 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6126480"/>
            <a:ext cx="5669280" cy="914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63093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F6F"/>
                </a:solidFill>
                <a:latin typeface="Pretendard"/>
              </a:rPr>
              <a:t>카드 뒷면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게임 규칙 1단계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게임을 시작하기 전에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3F6F"/>
                </a:solidFill>
                <a:latin typeface="Pretendard"/>
              </a:rPr>
              <a:t>준비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943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77240" cy="7772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모둠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0"/>
                </a:solidFill>
                <a:latin typeface="Pretendard"/>
              </a:rPr>
              <a:t>4명이 한 모둠이 되어 책상에 둘러 앉아요.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5943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777240" cy="7772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6207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카드 섞기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08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0"/>
                </a:solidFill>
                <a:latin typeface="Pretendard"/>
              </a:rPr>
              <a:t>48장 카드를 잘 섞고 그림이 안 보이게 뒤집어요.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5943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777240" cy="7772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카드 배치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77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0"/>
                </a:solidFill>
                <a:latin typeface="Pretendard"/>
              </a:rPr>
              <a:t>책상 가운데에 6장 × 8칸 = 48칸 격자로 놓아요.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5943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777240" cy="7772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9943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순서 정하기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0"/>
                </a:solidFill>
                <a:latin typeface="Pretendard"/>
              </a:rPr>
              <a:t>가위바위보로 순서를 정하고 점수표를 준비해요.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828800"/>
            <a:ext cx="47548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3F6F"/>
                </a:solidFill>
                <a:latin typeface="Pretendard"/>
              </a:rPr>
              <a:t>책상 위 카드 배치 (6 × 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732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7310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888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466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044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7622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0200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27780" y="24838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4732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7310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888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2466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5044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7622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0200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27780" y="306300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4732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7310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9888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2466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5044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7622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0200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27780" y="364212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4732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7310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888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2466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5044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7622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0200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27780" y="422124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4732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7310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9888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2466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5044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7622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0200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27780" y="480036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4732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7310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9888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2466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5044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7622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0200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827780" y="5379480"/>
            <a:ext cx="495780" cy="549120"/>
          </a:xfrm>
          <a:prstGeom prst="rect">
            <a:avLst/>
          </a:prstGeom>
          <a:solidFill>
            <a:srgbClr val="1D3F6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게임 규칙 2단계 (3분)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내 차례가 되면 어떻게 할까?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3F6F"/>
                </a:solidFill>
                <a:latin typeface="Pretendard"/>
              </a:rPr>
              <a:t>내 차례에 할 일 — 4단계를 순서대로!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9748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Pretendard"/>
              </a:rPr>
              <a:t>카드 2장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카드 2장을 골라</a:t>
            </a:r>
          </a:p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그림이 보이게 뒤집어요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108960"/>
            <a:ext cx="64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D3F6F"/>
                </a:solidFill>
                <a:latin typeface="Pretendard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92024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920240"/>
            <a:ext cx="2697480" cy="45720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606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Pretendard"/>
              </a:rPr>
              <a:t>같은 그림인지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두 장이 같은 유산이면</a:t>
            </a:r>
          </a:p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'성공!' / 다르면 '아쉽다'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3108960"/>
            <a:ext cx="64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D3F6F"/>
                </a:solidFill>
                <a:latin typeface="Pretendard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192024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71616" y="1920240"/>
            <a:ext cx="26974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3단계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606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Pretendard"/>
              </a:rPr>
              <a:t>유산 이름 외치기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성공하면 큰 소리로</a:t>
            </a:r>
          </a:p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'○○ 발견!' 외쳐요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3108960"/>
            <a:ext cx="64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D3F6F"/>
                </a:solidFill>
                <a:latin typeface="Pretendard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3104" y="192024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33104" y="1920240"/>
            <a:ext cx="269748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4단계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606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Pretendard"/>
              </a:rPr>
              <a:t>설명 한 가지 말하기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카드 뒷면을 읽거나</a:t>
            </a:r>
          </a:p>
          <a:p>
            <a:pPr algn="ctr"/>
            <a:r>
              <a:rPr sz="1200" b="0">
                <a:solidFill>
                  <a:srgbClr val="556570"/>
                </a:solidFill>
                <a:latin typeface="Pretendard"/>
              </a:rPr>
              <a:t>아는 내용을 말해요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3010"/>
                </a:solidFill>
                <a:latin typeface="Pretendard"/>
              </a:rPr>
              <a:t>꼭 기억해요!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3010"/>
                </a:solidFill>
                <a:latin typeface="Pretendard"/>
              </a:rPr>
              <a:t>• 성공하면 카드 2장을 내 앞에 가져와요. 한 번 더 차례를 가질 수 있어요!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3010"/>
                </a:solidFill>
                <a:latin typeface="Pretendard"/>
              </a:rPr>
              <a:t>• 실패하면 카드를 그대로 다시 뒤집고 다음 친구 차례예요. 어디에 무엇이 있는지 기억해두세요!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게임 규칙 3단계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점수는 어떻게 얻을까?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3F6F"/>
                </a:solidFill>
                <a:latin typeface="Pretendard"/>
              </a:rPr>
              <a:t>점수 계산법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74320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기본 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0"/>
                </a:solidFill>
                <a:latin typeface="Pretendard"/>
              </a:rPr>
              <a:t>짝을 맞추고 이름을 외치면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1D3F6F"/>
                </a:solidFill>
                <a:latin typeface="Pretendard"/>
              </a:rPr>
              <a:t>+1점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6400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274320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62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설명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0"/>
                </a:solidFill>
                <a:latin typeface="Pretendard"/>
              </a:rPr>
              <a:t>유산에 대해 한 가지 더 말하면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26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E76F51"/>
                </a:solidFill>
                <a:latin typeface="Pretendard"/>
              </a:rPr>
              <a:t>+1점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6400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274320" cy="8229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76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시대 정복 보너스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0"/>
                </a:solidFill>
                <a:latin typeface="Pretendard"/>
              </a:rPr>
              <a:t>같은 시대(색) 카드를 모두 모으면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E63946"/>
                </a:solidFill>
                <a:latin typeface="Pretendard"/>
              </a:rPr>
              <a:t>+3점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6400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274320" cy="82296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90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도둑 카드 페널티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0"/>
                </a:solidFill>
                <a:latin typeface="Pretendard"/>
              </a:rPr>
              <a:t>도둑 카드를 잡으면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754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808080"/>
                </a:solidFill>
                <a:latin typeface="Pretendard"/>
              </a:rPr>
              <a:t>-1점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828800"/>
            <a:ext cx="4297680" cy="438912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0116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예시 — 민지의 점수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동삼동 패총 짝 + 이름 외치기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560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DE68A"/>
                </a:solidFill>
                <a:latin typeface="Pretendard"/>
              </a:rPr>
              <a:t>+1점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'조개껍데기로 만든 유적이에요' 설명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0175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DE68A"/>
                </a:solidFill>
                <a:latin typeface="Pretendard"/>
              </a:rPr>
              <a:t>+1점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4747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복천동 고분군 짝 + 이름 외치기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4747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DE68A"/>
                </a:solidFill>
                <a:latin typeface="Pretendard"/>
              </a:rPr>
              <a:t>+1점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연산동 고분군 짝 + 이름 외치기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3931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DE68A"/>
                </a:solidFill>
                <a:latin typeface="Pretendard"/>
              </a:rPr>
              <a:t>+1점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[보너스] 선사·가야(빨강) 3장 모두!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389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DE68A"/>
                </a:solidFill>
                <a:latin typeface="Pretendard"/>
              </a:rPr>
              <a:t>+3점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5212080"/>
            <a:ext cx="3749039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5349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3035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Pretendard"/>
              </a:rPr>
              <a:t>7점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② · 특수 카드 4종 (1분)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재미를 더하는 비밀 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retendard"/>
              </a:rPr>
              <a:t>48장 중 4장은 특별한 효과를 가진 특수 카드예요. 잘 활용하면 점수를 더 많이 얻을 수 있어요!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97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97480" cy="64008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보물 도둑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1장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  <a:latin typeface="Pretendard"/>
              </a:rPr>
              <a:t>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이 카드를 뒤집으면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내 점수에서 1점이 빠져요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다음 차례는 그대로 진행돼요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2331720" cy="6400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A4A4A"/>
                </a:solidFill>
                <a:latin typeface="Pretendard"/>
              </a:rPr>
              <a:t>⚠ 조심하세요!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920240"/>
            <a:ext cx="2697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920240"/>
            <a:ext cx="2697480" cy="64008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965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시대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286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8346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Pretendard"/>
              </a:rPr>
              <a:t>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2004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원하는 시대 색깔을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친구에게 한 번 물어볼 수 있어요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예) '빨강 어디 있어?'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5303520"/>
            <a:ext cx="2331720" cy="6400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54406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4A261"/>
                </a:solidFill>
                <a:latin typeface="Pretendard"/>
              </a:rPr>
              <a:t>💡 한 번만 사용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1616" y="1920240"/>
            <a:ext cx="2697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71616" y="1920240"/>
            <a:ext cx="269748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1965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시간 여행자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286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1장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8346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Pretendard"/>
              </a:rPr>
              <a:t>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2004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이미 짝지어진 카드 1장을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가져올 수 있어요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+2점 보너스를 받아요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5303520"/>
            <a:ext cx="2331720" cy="6400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54406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latin typeface="Pretendard"/>
              </a:rPr>
              <a:t>⏳ 역전! 강력한 카드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3104" y="1920240"/>
            <a:ext cx="2697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33104" y="1920240"/>
            <a:ext cx="2697480" cy="640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1965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부산 사랑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2286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1장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28346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Pretendard"/>
              </a:rPr>
              <a:t>효과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32004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어떤 카드와도 짝이 되는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와일드 카드예요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원하는 시대 1점 추가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15984" y="5303520"/>
            <a:ext cx="2331720" cy="6400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54406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76F51"/>
                </a:solidFill>
                <a:latin typeface="Pretendard"/>
              </a:rPr>
              <a:t>❤ 만능! 와일드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③ · 이제 게임 시작! (12분)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모둠별로 게임을 진행해요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3F6F"/>
                </a:solidFill>
                <a:latin typeface="Pretendard"/>
              </a:rPr>
              <a:t>게임 진행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371600" cy="5486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12분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총 게임 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1371600" cy="5486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한 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약 10~12분 소요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486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371600" cy="5486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278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46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한 모둠 인원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49040"/>
            <a:ext cx="5486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1371600" cy="54864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679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점수표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86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retendard"/>
              </a:rPr>
              <a:t>모둠당 1장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5486400" cy="164592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3010"/>
                </a:solidFill>
                <a:latin typeface="Pretendard"/>
              </a:rPr>
              <a:t>교사의 역할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3010"/>
                </a:solidFill>
                <a:latin typeface="Pretendard"/>
              </a:rPr>
              <a:t>• 시간 관리 (12분 타이머 운영)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218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3010"/>
                </a:solidFill>
                <a:latin typeface="Pretendard"/>
              </a:rPr>
              <a:t>• 모둠 순회하며 규칙 안내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144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3010"/>
                </a:solidFill>
                <a:latin typeface="Pretendard"/>
              </a:rPr>
              <a:t>• 설명 점수 인정 여부 판단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070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3010"/>
                </a:solidFill>
                <a:latin typeface="Pretendard"/>
              </a:rPr>
              <a:t>• 갈등 발생 시 중재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188720"/>
            <a:ext cx="52120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325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모둠 점수표 (학생용 학습지)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874520"/>
            <a:ext cx="128016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965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이름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1874520"/>
            <a:ext cx="73152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기본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1874520"/>
            <a:ext cx="73152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설명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874520"/>
            <a:ext cx="118872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시대보너스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874520"/>
            <a:ext cx="731520" cy="4114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965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합계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28600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Pretendard"/>
              </a:rPr>
              <a:t>민지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228600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0" y="228600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18320" y="228600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0" y="228600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75120" y="2697480"/>
            <a:ext cx="128016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Pretendard"/>
              </a:rPr>
              <a:t>지훈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269748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0" y="269748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8320" y="2697480"/>
            <a:ext cx="11887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07040" y="269748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0" y="310896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Pretendard"/>
              </a:rPr>
              <a:t>서연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0" y="310896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86800" y="310896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20" y="310896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07040" y="310896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75120" y="3520440"/>
            <a:ext cx="128016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3611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A37"/>
                </a:solidFill>
                <a:latin typeface="Pretendard"/>
              </a:rPr>
              <a:t>준호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80" y="352044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6800" y="352044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18320" y="3520440"/>
            <a:ext cx="11887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07040" y="3520440"/>
            <a:ext cx="731520" cy="411480"/>
          </a:xfrm>
          <a:prstGeom prst="rect">
            <a:avLst/>
          </a:prstGeom>
          <a:solidFill>
            <a:srgbClr val="F7FAFC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75120" y="4389120"/>
            <a:ext cx="4663440" cy="1554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45262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게임이 끝났을 때!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48920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1. 격자에 카드가 모두 사라지면 게임 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184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2. 또는 12분 타이머가 울리면 게임 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4772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3. 합계 점수가 가장 높은 친구가 우승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전개 ④ · 우리 모둠 보물 자랑 (3분)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가장 인상 깊은 유산을 친구들에게 소개해요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retendard"/>
              </a:rPr>
              <a:t>모둠별 1등 학생이 가장 많이 모은 유산 중 한 가지를 골라 발표해요.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F6F"/>
                </a:solidFill>
                <a:latin typeface="Pretendard"/>
              </a:rPr>
              <a:t>발표 양식 (3문장)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3F6F"/>
                </a:solidFill>
                <a:latin typeface="Pretendard"/>
              </a:rPr>
              <a:t>이름 말하기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017520"/>
            <a:ext cx="5212080" cy="50292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"제가 소개할 유산은 ○○○입니다."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3F6F"/>
                </a:solidFill>
                <a:latin typeface="Pretendard"/>
              </a:rPr>
              <a:t>한 줄 설명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114800"/>
            <a:ext cx="5212080" cy="50292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224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"이곳은 ○○○○○입니다."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3F6F"/>
                </a:solidFill>
                <a:latin typeface="Pretendard"/>
              </a:rPr>
              <a:t>느낀 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212080"/>
            <a:ext cx="5212080" cy="50292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"이 유산이 인상 깊었던 이유는 ○○○입니다."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828800"/>
            <a:ext cx="4297680" cy="438912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0116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듣는 친구의 자세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651760"/>
            <a:ext cx="3749039" cy="6858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2743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  <a:latin typeface="Pretendard"/>
              </a:rPr>
              <a:t>바른 자세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035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발표자를 바라봐요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474720"/>
            <a:ext cx="3749039" cy="6858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5661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  <a:latin typeface="Pretendard"/>
              </a:rPr>
              <a:t>끄덕끄덕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5876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고개를 끄덕이며 들어요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4297680"/>
            <a:ext cx="3749039" cy="6858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389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  <a:latin typeface="Pretendard"/>
              </a:rPr>
              <a:t>박수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817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발표 후 따뜻한 박수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5120640"/>
            <a:ext cx="3749039" cy="6858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212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  <a:latin typeface="Pretendard"/>
              </a:rPr>
              <a:t>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046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궁금한 점 한 가지 물어봐요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정리 · 오늘의 학습 정리 (6분)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무엇을 배웠나요?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3F6F"/>
                </a:solidFill>
                <a:latin typeface="Pretendard"/>
              </a:rPr>
              <a:t>형성 평가 - 빈칸을 채워봐요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943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0" cy="868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38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신석기 사람들이 조개껍데기를 쌓아 만든 유적은?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▶ 답: 동삼동 □□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943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640080" cy="868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98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678년 의상대사가 세운 부산에서 가장 큰 절은?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▶ 답: □□□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5943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640080" cy="868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58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임진왜란 때 동래를 지킨 성은?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▶ 답: □□□□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09160"/>
            <a:ext cx="5943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0" cy="868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18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6·25 전쟁 때 대통령이 머문 곳은?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66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F6F"/>
                </a:solidFill>
                <a:latin typeface="Pretendard"/>
              </a:rPr>
              <a:t>▶ 답: □□수도 기념관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188720"/>
            <a:ext cx="47548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1325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3F6F"/>
                </a:solidFill>
                <a:latin typeface="Pretendard"/>
              </a:rPr>
              <a:t>자기 평가 (스스로 체크)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8745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187452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부산 문화유산 5가지 이상을 시대별로 분류할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228600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228600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친구들과 협력하며 게임에 참여했다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6974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269748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발표하거나 친구의 발표를 잘 들었다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1089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10896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retendard"/>
              </a:rPr>
              <a:t>우리 고장 문화유산이 자랑스럽다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794760"/>
            <a:ext cx="4754880" cy="33375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오늘 우리가 알게 된 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434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부산에는 22개의 대표 문화유산이 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937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시대는 5가지 색깔로 나눌 수 있다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440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선사 3 · 통일신라/고려 2 · 조선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943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근대 8 · 생활/시장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정리 · 다음 시간 예고 (1분)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retendard"/>
              </a:rPr>
              <a:t>이어서 배울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20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3F6F"/>
                </a:solidFill>
                <a:latin typeface="Pretendard"/>
              </a:rPr>
              <a:t>2~3차시 예고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371600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2차시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11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F6F"/>
                </a:solidFill>
                <a:latin typeface="Pretendard"/>
              </a:rPr>
              <a:t>우리 마을 답사 계획 세우기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688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오늘 배운 22가지 중 우리 마을 가까이 있는 유산을 골라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어떻게 찾아갈지 모둠별로 계획을 세워봐요.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371600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F6F"/>
                </a:solidFill>
                <a:latin typeface="Pretendard"/>
              </a:rPr>
              <a:t>부산 문화유산 자랑 카드 만들기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233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내가 가장 좋아하는 유산을 골라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친구들에게 자랑할 수 있는 카드를 직접 만들어봐요.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1D3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Pretendard"/>
              </a:rPr>
              <a:t>마무리 인사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"오늘 부산 보물 탐험대가 되어 우리 고장의 보물 22가지를 만나봤어요.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집에 가서 가족과 한 번 가본 적 있는 곳을 이야기해 보세요!"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0"/>
                </a:solidFill>
                <a:latin typeface="Pretendard"/>
              </a:rPr>
              <a:t>부산 보물 탐험대 | 4학년 사회과 1차시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0"/>
                </a:solidFill>
                <a:latin typeface="Pretendard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